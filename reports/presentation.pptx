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lef" panose="00000500000000000000" pitchFamily="2" charset="-79"/>
      <p:regular r:id="rId12"/>
    </p:embeddedFont>
    <p:embeddedFont>
      <p:font typeface="Alef Bold" panose="020B0604020202020204" charset="-79"/>
      <p:regular r:id="rId13"/>
    </p:embeddedFont>
    <p:embeddedFont>
      <p:font typeface="Poppins" panose="00000500000000000000" pitchFamily="2" charset="0"/>
      <p:regular r:id="rId14"/>
    </p:embeddedFont>
    <p:embeddedFont>
      <p:font typeface="Poppi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4C188F-3453-4EEE-9E2A-B3D474700F65}" v="4" dt="2026-01-20T18:26:42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Salman Farsi" userId="3583e373a6c5adb3" providerId="LiveId" clId="{05645E1A-28F9-4A46-A83B-3401CBBB0287}"/>
    <pc:docChg chg="custSel modSld">
      <pc:chgData name="Md Salman Farsi" userId="3583e373a6c5adb3" providerId="LiveId" clId="{05645E1A-28F9-4A46-A83B-3401CBBB0287}" dt="2026-01-20T18:28:20.078" v="50" actId="1076"/>
      <pc:docMkLst>
        <pc:docMk/>
      </pc:docMkLst>
      <pc:sldChg chg="addSp delSp modSp mod">
        <pc:chgData name="Md Salman Farsi" userId="3583e373a6c5adb3" providerId="LiveId" clId="{05645E1A-28F9-4A46-A83B-3401CBBB0287}" dt="2026-01-20T18:26:19.782" v="38" actId="1076"/>
        <pc:sldMkLst>
          <pc:docMk/>
          <pc:sldMk cId="0" sldId="260"/>
        </pc:sldMkLst>
        <pc:picChg chg="add mod">
          <ac:chgData name="Md Salman Farsi" userId="3583e373a6c5adb3" providerId="LiveId" clId="{05645E1A-28F9-4A46-A83B-3401CBBB0287}" dt="2026-01-20T18:26:19.782" v="38" actId="1076"/>
          <ac:picMkLst>
            <pc:docMk/>
            <pc:sldMk cId="0" sldId="260"/>
            <ac:picMk id="8" creationId="{6E84E309-7EE2-B83B-1C83-687FBBEEEB40}"/>
          </ac:picMkLst>
        </pc:picChg>
        <pc:picChg chg="add del mod">
          <ac:chgData name="Md Salman Farsi" userId="3583e373a6c5adb3" providerId="LiveId" clId="{05645E1A-28F9-4A46-A83B-3401CBBB0287}" dt="2026-01-20T18:24:42.986" v="28" actId="478"/>
          <ac:picMkLst>
            <pc:docMk/>
            <pc:sldMk cId="0" sldId="260"/>
            <ac:picMk id="9" creationId="{1F390AFA-E3E2-F63C-D85A-1ACEAF85A71F}"/>
          </ac:picMkLst>
        </pc:picChg>
      </pc:sldChg>
      <pc:sldChg chg="addSp delSp modSp mod">
        <pc:chgData name="Md Salman Farsi" userId="3583e373a6c5adb3" providerId="LiveId" clId="{05645E1A-28F9-4A46-A83B-3401CBBB0287}" dt="2026-01-20T18:28:20.078" v="50" actId="1076"/>
        <pc:sldMkLst>
          <pc:docMk/>
          <pc:sldMk cId="0" sldId="261"/>
        </pc:sldMkLst>
        <pc:picChg chg="add mod">
          <ac:chgData name="Md Salman Farsi" userId="3583e373a6c5adb3" providerId="LiveId" clId="{05645E1A-28F9-4A46-A83B-3401CBBB0287}" dt="2026-01-20T18:28:20.078" v="50" actId="1076"/>
          <ac:picMkLst>
            <pc:docMk/>
            <pc:sldMk cId="0" sldId="261"/>
            <ac:picMk id="6" creationId="{5A6FC221-BA00-1DA8-4A66-4018EF720000}"/>
          </ac:picMkLst>
        </pc:picChg>
        <pc:picChg chg="add del mod">
          <ac:chgData name="Md Salman Farsi" userId="3583e373a6c5adb3" providerId="LiveId" clId="{05645E1A-28F9-4A46-A83B-3401CBBB0287}" dt="2026-01-20T18:26:30.132" v="39" actId="478"/>
          <ac:picMkLst>
            <pc:docMk/>
            <pc:sldMk cId="0" sldId="261"/>
            <ac:picMk id="7" creationId="{8ED64386-D629-038A-5329-5F6B2C244D9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07705" y="1880246"/>
            <a:ext cx="17072589" cy="1229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78"/>
              </a:lnSpc>
            </a:pPr>
            <a:r>
              <a:rPr lang="en-US" sz="7198" b="1" dirty="0">
                <a:solidFill>
                  <a:srgbClr val="FFFFFF"/>
                </a:solidFill>
                <a:effectLst>
                  <a:outerShdw blurRad="25400" dist="50800" dir="2700000" algn="tl" rotWithShape="0">
                    <a:schemeClr val="bg1">
                      <a:lumMod val="85000"/>
                      <a:alpha val="62000"/>
                    </a:scheme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Customer Churn Prediction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63565" y="3040425"/>
            <a:ext cx="13614635" cy="839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58"/>
              </a:lnSpc>
            </a:pPr>
            <a:r>
              <a:rPr lang="en-US" sz="4898" dirty="0">
                <a:solidFill>
                  <a:srgbClr val="1CABB0"/>
                </a:solidFill>
                <a:effectLst>
                  <a:outerShdw blurRad="38100" dist="38100" dir="2700000" algn="tl" rotWithShape="0">
                    <a:schemeClr val="bg1">
                      <a:lumMod val="95000"/>
                      <a:alpha val="35000"/>
                    </a:schemeClr>
                  </a:outerShdw>
                </a:effectLst>
                <a:latin typeface="Poppins"/>
                <a:ea typeface="Poppins"/>
                <a:cs typeface="Poppins"/>
                <a:sym typeface="Poppins"/>
              </a:rPr>
              <a:t>AI-Powered Strategy for Telecom Retention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42659" y="4905375"/>
            <a:ext cx="7602682" cy="2744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462"/>
              </a:lnSpc>
            </a:pPr>
            <a:r>
              <a:rPr lang="en-US" sz="4100" b="1">
                <a:solidFill>
                  <a:srgbClr val="BDC8DF"/>
                </a:solidFill>
                <a:latin typeface="Alef Bold"/>
                <a:ea typeface="Alef Bold"/>
                <a:cs typeface="Alef Bold"/>
                <a:sym typeface="Alef Bold"/>
              </a:rPr>
              <a:t>Name         → </a:t>
            </a:r>
            <a:r>
              <a:rPr lang="en-US" sz="4100" b="1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Md Salman Farsi</a:t>
            </a:r>
          </a:p>
          <a:p>
            <a:pPr algn="just">
              <a:lnSpc>
                <a:spcPts val="7462"/>
              </a:lnSpc>
            </a:pPr>
            <a:r>
              <a:rPr lang="en-US" sz="4100" b="1">
                <a:solidFill>
                  <a:srgbClr val="BDC8DF"/>
                </a:solidFill>
                <a:latin typeface="Alef Bold"/>
                <a:ea typeface="Alef Bold"/>
                <a:cs typeface="Alef Bold"/>
                <a:sym typeface="Alef Bold"/>
              </a:rPr>
              <a:t>Internship → </a:t>
            </a:r>
            <a:r>
              <a:rPr lang="en-US" sz="4100" b="1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Elevate Labs</a:t>
            </a:r>
          </a:p>
          <a:p>
            <a:pPr algn="l">
              <a:lnSpc>
                <a:spcPts val="7462"/>
              </a:lnSpc>
            </a:pPr>
            <a:r>
              <a:rPr lang="en-US" sz="4100" b="1">
                <a:solidFill>
                  <a:srgbClr val="BDC8DF"/>
                </a:solidFill>
                <a:latin typeface="Alef Bold"/>
                <a:ea typeface="Alef Bold"/>
                <a:cs typeface="Alef Bold"/>
                <a:sym typeface="Alef Bold"/>
              </a:rPr>
              <a:t>Project ID  → </a:t>
            </a:r>
            <a:r>
              <a:rPr lang="en-US" sz="4100" b="1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57612" y="384033"/>
            <a:ext cx="10772775" cy="1656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9699" b="1" dirty="0">
                <a:solidFill>
                  <a:srgbClr val="FFFFFF"/>
                </a:solidFill>
                <a:effectLst>
                  <a:outerShdw blurRad="25400" dist="50800" dir="2700000" algn="tl" rotWithShape="0">
                    <a:schemeClr val="bg1">
                      <a:lumMod val="85000"/>
                      <a:alpha val="40000"/>
                    </a:scheme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Project Objective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6328" y="3400727"/>
            <a:ext cx="17259300" cy="5685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95" lvl="1" indent="-442598" algn="just">
              <a:lnSpc>
                <a:spcPts val="4100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Goal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To predict customer churn (users likely to leave) and derive actionable strategies to retain them in a competitive telecom market.</a:t>
            </a:r>
          </a:p>
          <a:p>
            <a:pPr algn="just">
              <a:lnSpc>
                <a:spcPts val="4100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5" lvl="1" indent="-442598" algn="just">
              <a:lnSpc>
                <a:spcPts val="4100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Problem Statement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Acquiring a new customer is 5x more expensive than retaining an existing one. Identifying high-risk customers early is crucial.</a:t>
            </a:r>
          </a:p>
          <a:p>
            <a:pPr algn="just">
              <a:lnSpc>
                <a:spcPts val="4100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5" lvl="1" indent="-442598" algn="just">
              <a:lnSpc>
                <a:spcPts val="4100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Solution → 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An ML-powered web application that flags risky customers and suggests retention offers.</a:t>
            </a:r>
          </a:p>
          <a:p>
            <a:pPr algn="just">
              <a:lnSpc>
                <a:spcPts val="4100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61451" y="216417"/>
            <a:ext cx="13325259" cy="1656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9699" b="1" dirty="0">
                <a:solidFill>
                  <a:srgbClr val="FFFFFF"/>
                </a:solidFill>
                <a:effectLst>
                  <a:outerShdw blurRad="25400" dist="50800" dir="2700000" algn="tl" rotWithShape="0">
                    <a:schemeClr val="bg1">
                      <a:lumMod val="85000"/>
                      <a:alpha val="40000"/>
                    </a:scheme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Tools &amp; Technologies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6186" y="2887853"/>
            <a:ext cx="17575628" cy="6370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91" lvl="1" indent="-442595" algn="l">
              <a:lnSpc>
                <a:spcPts val="5084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Programming Language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Python</a:t>
            </a:r>
          </a:p>
          <a:p>
            <a:pPr algn="l">
              <a:lnSpc>
                <a:spcPts val="5084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l">
              <a:lnSpc>
                <a:spcPts val="5084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Data Processing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Pandas, NumPy, SQL </a:t>
            </a:r>
          </a:p>
          <a:p>
            <a:pPr algn="l">
              <a:lnSpc>
                <a:spcPts val="5084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l">
              <a:lnSpc>
                <a:spcPts val="5084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Machine Learning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Scikit-Learn (Classification Model)</a:t>
            </a:r>
          </a:p>
          <a:p>
            <a:pPr algn="l">
              <a:lnSpc>
                <a:spcPts val="5084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l">
              <a:lnSpc>
                <a:spcPts val="5084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Web Framework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Streamlit (For Interactive Dashboard)</a:t>
            </a:r>
          </a:p>
          <a:p>
            <a:pPr algn="l">
              <a:lnSpc>
                <a:spcPts val="5084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l">
              <a:lnSpc>
                <a:spcPts val="5084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Visualization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Matplotlib / Built-in Streamlit Charts</a:t>
            </a:r>
          </a:p>
          <a:p>
            <a:pPr algn="l">
              <a:lnSpc>
                <a:spcPts val="5084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9428" y="195617"/>
            <a:ext cx="8389144" cy="1656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9699" b="1" dirty="0">
                <a:solidFill>
                  <a:srgbClr val="FFFFFF"/>
                </a:solidFill>
                <a:effectLst>
                  <a:outerShdw blurRad="25400" dist="50800" dir="2700000" algn="tl" rotWithShape="0">
                    <a:schemeClr val="bg1">
                      <a:lumMod val="85000"/>
                      <a:alpha val="40000"/>
                    </a:scheme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6186" y="3039110"/>
            <a:ext cx="16903114" cy="6639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91" lvl="1" indent="-442595" algn="just">
              <a:lnSpc>
                <a:spcPts val="4387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Data Collection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Aggregated customer data including Tenure, Monthly Charges, and Demographics.</a:t>
            </a:r>
          </a:p>
          <a:p>
            <a:pPr algn="just">
              <a:lnSpc>
                <a:spcPts val="4387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just">
              <a:lnSpc>
                <a:spcPts val="4387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Preprocessing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Cleaned data, handled missing values, and scaled numerical features.</a:t>
            </a:r>
          </a:p>
          <a:p>
            <a:pPr algn="just">
              <a:lnSpc>
                <a:spcPts val="4387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just">
              <a:lnSpc>
                <a:spcPts val="4387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Modeling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Trained a Binary Classification Model to predict ‘Churn' (1) vs 'No Churn' (0).</a:t>
            </a:r>
          </a:p>
          <a:p>
            <a:pPr algn="just">
              <a:lnSpc>
                <a:spcPts val="4387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just">
              <a:lnSpc>
                <a:spcPts val="4387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Deployment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Built a user-friendly interface using Streamlit for real-time predictions.</a:t>
            </a:r>
          </a:p>
          <a:p>
            <a:pPr algn="just">
              <a:lnSpc>
                <a:spcPts val="4387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5247571" y="4127"/>
            <a:ext cx="7792857" cy="1656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9699" b="1" dirty="0">
                <a:solidFill>
                  <a:srgbClr val="FFFFFF"/>
                </a:solidFill>
                <a:effectLst>
                  <a:outerShdw blurRad="25400" dist="50800" dir="2700000" algn="tl" rotWithShape="0">
                    <a:schemeClr val="bg1">
                      <a:lumMod val="85000"/>
                      <a:alpha val="40000"/>
                    </a:scheme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The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81133" y="3151763"/>
            <a:ext cx="8799219" cy="3994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12" lvl="1" indent="-421006" algn="just">
              <a:lnSpc>
                <a:spcPts val="3900"/>
              </a:lnSpc>
              <a:buFont typeface="Arial"/>
              <a:buChar char="•"/>
            </a:pPr>
            <a:r>
              <a:rPr lang="en-US" sz="3900" dirty="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Input Features → </a:t>
            </a:r>
            <a:r>
              <a:rPr lang="en-US" sz="3900" dirty="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User inputs Gender, Age, Tenure and Monthly Charges.</a:t>
            </a:r>
          </a:p>
          <a:p>
            <a:pPr algn="just">
              <a:lnSpc>
                <a:spcPts val="3900"/>
              </a:lnSpc>
            </a:pPr>
            <a:endParaRPr lang="en-US" sz="3900" dirty="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42012" lvl="1" indent="-421006" algn="just">
              <a:lnSpc>
                <a:spcPts val="3900"/>
              </a:lnSpc>
              <a:buFont typeface="Arial"/>
              <a:buChar char="•"/>
            </a:pPr>
            <a:r>
              <a:rPr lang="en-US" sz="3900" dirty="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Real-Time Analysis → </a:t>
            </a:r>
            <a:r>
              <a:rPr lang="en-US" sz="3900" dirty="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The model processes inputs instantly.</a:t>
            </a:r>
          </a:p>
          <a:p>
            <a:pPr algn="l">
              <a:lnSpc>
                <a:spcPts val="3900"/>
              </a:lnSpc>
            </a:pPr>
            <a:endParaRPr lang="en-US" sz="3900" dirty="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algn="l">
              <a:lnSpc>
                <a:spcPts val="3900"/>
              </a:lnSpc>
            </a:pPr>
            <a:endParaRPr lang="en-US" sz="3900" dirty="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796269" y="8153091"/>
            <a:ext cx="13177518" cy="89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8"/>
              </a:lnSpc>
            </a:pPr>
            <a:endParaRPr/>
          </a:p>
          <a:p>
            <a:pPr algn="l">
              <a:lnSpc>
                <a:spcPts val="3478"/>
              </a:lnSpc>
            </a:pPr>
            <a:r>
              <a:rPr lang="en-US" sz="37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🟢Green Signal: Safe (Loyal) </a:t>
            </a:r>
            <a:r>
              <a:rPr lang="en-US" sz="37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→ </a:t>
            </a:r>
            <a:r>
              <a:rPr lang="en-US" sz="37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Suggests Upselling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7392" y="8013518"/>
            <a:ext cx="3166721" cy="145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0"/>
              </a:lnSpc>
            </a:pPr>
            <a:endParaRPr/>
          </a:p>
          <a:p>
            <a:pPr marL="820422" lvl="1" indent="-410211" algn="l">
              <a:lnSpc>
                <a:spcPts val="380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Outcome :</a:t>
            </a:r>
          </a:p>
          <a:p>
            <a:pPr algn="l">
              <a:lnSpc>
                <a:spcPts val="3800"/>
              </a:lnSpc>
            </a:pPr>
            <a:endParaRPr lang="en-US" sz="3800">
              <a:solidFill>
                <a:srgbClr val="FFFFFF"/>
              </a:solidFill>
              <a:latin typeface="Alef"/>
              <a:ea typeface="Alef"/>
              <a:cs typeface="Alef"/>
              <a:sym typeface="Alef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84E309-7EE2-B83B-1C83-687FBBEEEB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92" y="1678235"/>
            <a:ext cx="9161408" cy="64570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3824607" y="8527542"/>
            <a:ext cx="13177518" cy="89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37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🔴 Red Alert: High Risk (Churn) </a:t>
            </a:r>
            <a:r>
              <a:rPr lang="en-US" sz="37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→ </a:t>
            </a:r>
            <a:r>
              <a:rPr lang="en-US" sz="37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Suggests Discounts</a:t>
            </a:r>
          </a:p>
          <a:p>
            <a:pPr algn="l">
              <a:lnSpc>
                <a:spcPts val="3478"/>
              </a:lnSpc>
            </a:pPr>
            <a:endParaRPr lang="en-US" sz="37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05364" y="7991221"/>
            <a:ext cx="3166721" cy="145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0"/>
              </a:lnSpc>
            </a:pPr>
            <a:endParaRPr/>
          </a:p>
          <a:p>
            <a:pPr marL="820422" lvl="1" indent="-410211" algn="l">
              <a:lnSpc>
                <a:spcPts val="380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Outcome :</a:t>
            </a:r>
          </a:p>
          <a:p>
            <a:pPr algn="l">
              <a:lnSpc>
                <a:spcPts val="3800"/>
              </a:lnSpc>
            </a:pPr>
            <a:endParaRPr lang="en-US" sz="3800">
              <a:solidFill>
                <a:srgbClr val="FFFFFF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29BE0B-1EF5-0FDF-884E-434E1EFA5381}"/>
              </a:ext>
            </a:extLst>
          </p:cNvPr>
          <p:cNvSpPr txBox="1"/>
          <p:nvPr/>
        </p:nvSpPr>
        <p:spPr>
          <a:xfrm>
            <a:off x="9758240" y="3162300"/>
            <a:ext cx="8024371" cy="3618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42012" lvl="1" indent="-421006">
              <a:lnSpc>
                <a:spcPts val="3900"/>
              </a:lnSpc>
              <a:buFont typeface="Arial"/>
              <a:buChar char="•"/>
            </a:pPr>
            <a:r>
              <a:rPr lang="en-US" sz="3900" dirty="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Input Features → </a:t>
            </a:r>
            <a:r>
              <a:rPr lang="en-US" sz="3900" dirty="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User inputs Gender, Age, Tenure and Monthly Charges.</a:t>
            </a:r>
          </a:p>
          <a:p>
            <a:pPr>
              <a:lnSpc>
                <a:spcPts val="3900"/>
              </a:lnSpc>
            </a:pPr>
            <a:endParaRPr lang="en-US" sz="3900" dirty="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42012" lvl="1" indent="-421006">
              <a:lnSpc>
                <a:spcPts val="3900"/>
              </a:lnSpc>
              <a:buFont typeface="Arial"/>
              <a:buChar char="•"/>
            </a:pPr>
            <a:r>
              <a:rPr lang="en-US" sz="3900" dirty="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Real-Time Analysis → </a:t>
            </a:r>
            <a:r>
              <a:rPr lang="en-US" sz="3900" dirty="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The model processes inputs instantly.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6FC221-BA00-1DA8-4A66-4018EF7200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605949"/>
            <a:ext cx="9982200" cy="60481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11210" y="333121"/>
            <a:ext cx="14800389" cy="164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533"/>
              </a:lnSpc>
            </a:pPr>
            <a:r>
              <a:rPr lang="en-US" sz="9667" b="1" dirty="0">
                <a:solidFill>
                  <a:srgbClr val="FFFFFF"/>
                </a:solidFill>
                <a:effectLst>
                  <a:outerShdw blurRad="25400" dist="50800" dir="2700000" algn="tl" rotWithShape="0">
                    <a:schemeClr val="bg1">
                      <a:lumMod val="85000"/>
                      <a:alpha val="40000"/>
                    </a:scheme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Key Insights &amp;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27323" y="2810510"/>
            <a:ext cx="16472927" cy="687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0"/>
              </a:lnSpc>
            </a:pPr>
            <a:endParaRPr/>
          </a:p>
          <a:p>
            <a:pPr marL="885191" lvl="1" indent="-442595" algn="just">
              <a:lnSpc>
                <a:spcPts val="4510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High Churn Factors:</a:t>
            </a:r>
          </a:p>
          <a:p>
            <a:pPr algn="just">
              <a:lnSpc>
                <a:spcPts val="4510"/>
              </a:lnSpc>
            </a:pPr>
            <a:endParaRPr lang="en-US" sz="4100">
              <a:solidFill>
                <a:srgbClr val="FFFFFF"/>
              </a:solidFill>
              <a:latin typeface="Alef"/>
              <a:ea typeface="Alef"/>
              <a:cs typeface="Alef"/>
              <a:sym typeface="Alef"/>
            </a:endParaRPr>
          </a:p>
          <a:p>
            <a:pPr algn="just">
              <a:lnSpc>
                <a:spcPts val="4510"/>
              </a:lnSpc>
            </a:pP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    Low Tenure </a:t>
            </a: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New customers (1-5 months) are at highest risk.</a:t>
            </a:r>
          </a:p>
          <a:p>
            <a:pPr algn="just">
              <a:lnSpc>
                <a:spcPts val="4510"/>
              </a:lnSpc>
            </a:pP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  High Monthly Charges </a:t>
            </a: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Customers paying &gt;$80/month churn                            more often.</a:t>
            </a:r>
          </a:p>
          <a:p>
            <a:pPr algn="just">
              <a:lnSpc>
                <a:spcPts val="4510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just">
              <a:lnSpc>
                <a:spcPts val="4510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Customer Segments:</a:t>
            </a:r>
          </a:p>
          <a:p>
            <a:pPr algn="just">
              <a:lnSpc>
                <a:spcPts val="4510"/>
              </a:lnSpc>
            </a:pPr>
            <a:endParaRPr lang="en-US" sz="4100">
              <a:solidFill>
                <a:srgbClr val="FFFFFF"/>
              </a:solidFill>
              <a:latin typeface="Alef"/>
              <a:ea typeface="Alef"/>
              <a:cs typeface="Alef"/>
              <a:sym typeface="Alef"/>
            </a:endParaRPr>
          </a:p>
          <a:p>
            <a:pPr algn="just">
              <a:lnSpc>
                <a:spcPts val="4510"/>
              </a:lnSpc>
            </a:pP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  At Risk </a:t>
            </a: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New users with high bills.</a:t>
            </a:r>
          </a:p>
          <a:p>
            <a:pPr algn="just">
              <a:lnSpc>
                <a:spcPts val="4510"/>
              </a:lnSpc>
            </a:pP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  Loyal</a:t>
            </a: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Users with &gt;50 months tenure (Low Churn Probability).</a:t>
            </a:r>
          </a:p>
          <a:p>
            <a:pPr algn="just">
              <a:lnSpc>
                <a:spcPts val="4510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16465" y="301086"/>
            <a:ext cx="15652335" cy="16562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578"/>
              </a:lnSpc>
            </a:pPr>
            <a:r>
              <a:rPr lang="en-US" sz="9698" b="1" dirty="0">
                <a:solidFill>
                  <a:srgbClr val="FFFFFF"/>
                </a:solidFill>
                <a:effectLst>
                  <a:outerShdw blurRad="25400" dist="50800" dir="2700000" algn="tl" rotWithShape="0">
                    <a:schemeClr val="bg1">
                      <a:lumMod val="85000"/>
                      <a:alpha val="40000"/>
                    </a:scheme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Final Recommendations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3989" y="3108833"/>
            <a:ext cx="16675311" cy="639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91" lvl="1" indent="-442595" algn="just">
              <a:lnSpc>
                <a:spcPts val="5699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For High-Risk Customers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Implement automated "Retention Discounts" for users with &lt;6 months tenure and high bills.</a:t>
            </a:r>
          </a:p>
          <a:p>
            <a:pPr algn="just">
              <a:lnSpc>
                <a:spcPts val="5699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just">
              <a:lnSpc>
                <a:spcPts val="5699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For Loyal Customers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Introduce loyalty rewards or family plan upgrades to increase lifetime value.</a:t>
            </a:r>
          </a:p>
          <a:p>
            <a:pPr algn="just">
              <a:lnSpc>
                <a:spcPts val="5699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just">
              <a:lnSpc>
                <a:spcPts val="5699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Service Improvement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Investigate feedback from “Senior Citizens" as they showed unique churn patterns.</a:t>
            </a:r>
          </a:p>
          <a:p>
            <a:pPr algn="just">
              <a:lnSpc>
                <a:spcPts val="5699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64765" y="128247"/>
            <a:ext cx="7158471" cy="1656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9699" b="1" dirty="0">
                <a:solidFill>
                  <a:srgbClr val="FFFFFF"/>
                </a:solidFill>
                <a:effectLst>
                  <a:outerShdw blurRad="25400" dist="50800" dir="2700000" algn="tl" rotWithShape="0">
                    <a:schemeClr val="bg1">
                      <a:lumMod val="85000"/>
                      <a:alpha val="40000"/>
                    </a:scheme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57119" y="3194380"/>
            <a:ext cx="16933970" cy="6281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91" lvl="1" indent="-442595" algn="just">
              <a:lnSpc>
                <a:spcPts val="6232"/>
              </a:lnSpc>
              <a:buFont typeface="Arial"/>
              <a:buChar char="•"/>
            </a:pP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This project successfully demonstrates how AI can solve business problems.</a:t>
            </a:r>
          </a:p>
          <a:p>
            <a:pPr algn="just">
              <a:lnSpc>
                <a:spcPts val="6232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just">
              <a:lnSpc>
                <a:spcPts val="6232"/>
              </a:lnSpc>
              <a:buFont typeface="Arial"/>
              <a:buChar char="•"/>
            </a:pP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The tool empowers the marketing team to take proactive action rather than reactive measures.</a:t>
            </a:r>
          </a:p>
          <a:p>
            <a:pPr algn="just">
              <a:lnSpc>
                <a:spcPts val="6232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  <a:p>
            <a:pPr marL="885191" lvl="1" indent="-442595" algn="just">
              <a:lnSpc>
                <a:spcPts val="6232"/>
              </a:lnSpc>
              <a:buFont typeface="Arial"/>
              <a:buChar char="•"/>
            </a:pPr>
            <a:r>
              <a:rPr lang="en-US" sz="4100">
                <a:solidFill>
                  <a:srgbClr val="FFFFFF"/>
                </a:solidFill>
                <a:latin typeface="Alef"/>
                <a:ea typeface="Alef"/>
                <a:cs typeface="Alef"/>
                <a:sym typeface="Alef"/>
              </a:rPr>
              <a:t>Result →</a:t>
            </a:r>
            <a:r>
              <a:rPr lang="en-US" sz="4100">
                <a:solidFill>
                  <a:srgbClr val="BDC8DF"/>
                </a:solidFill>
                <a:latin typeface="Alef"/>
                <a:ea typeface="Alef"/>
                <a:cs typeface="Alef"/>
                <a:sym typeface="Alef"/>
              </a:rPr>
              <a:t> Potential reduction in churn rate and increased revenue.</a:t>
            </a:r>
          </a:p>
          <a:p>
            <a:pPr algn="l">
              <a:lnSpc>
                <a:spcPts val="6232"/>
              </a:lnSpc>
            </a:pPr>
            <a:endParaRPr lang="en-US" sz="4100">
              <a:solidFill>
                <a:srgbClr val="BDC8DF"/>
              </a:solidFill>
              <a:latin typeface="Alef"/>
              <a:ea typeface="Alef"/>
              <a:cs typeface="Alef"/>
              <a:sym typeface="Alef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124D3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67638" y="3328010"/>
            <a:ext cx="11952724" cy="2959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65"/>
              </a:lnSpc>
            </a:pPr>
            <a:r>
              <a:rPr lang="en-US" sz="17332" b="1" dirty="0">
                <a:solidFill>
                  <a:srgbClr val="FFFFFF"/>
                </a:solidFill>
                <a:effectLst>
                  <a:outerShdw blurRad="50800" dist="63500" dir="2700000" algn="tl" rotWithShape="0">
                    <a:schemeClr val="bg1">
                      <a:lumMod val="85000"/>
                      <a:alpha val="30000"/>
                    </a:schemeClr>
                  </a:outerShdw>
                </a:effectLst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11438313"/>
          </a:xfrm>
          <a:custGeom>
            <a:avLst/>
            <a:gdLst/>
            <a:ahLst/>
            <a:cxnLst/>
            <a:rect l="l" t="t" r="r" b="b"/>
            <a:pathLst>
              <a:path w="18288000" h="11438313">
                <a:moveTo>
                  <a:pt x="0" y="0"/>
                </a:moveTo>
                <a:lnTo>
                  <a:pt x="18288000" y="0"/>
                </a:lnTo>
                <a:lnTo>
                  <a:pt x="18288000" y="11438313"/>
                </a:lnTo>
                <a:lnTo>
                  <a:pt x="0" y="1143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427</Words>
  <Application>Microsoft Office PowerPoint</Application>
  <PresentationFormat>Custom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Alef Bold</vt:lpstr>
      <vt:lpstr>Poppins</vt:lpstr>
      <vt:lpstr>Poppins Bold</vt:lpstr>
      <vt:lpstr>Alef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Case Study in Gender Sensitisation</dc:title>
  <dc:creator>Md Salman Farsi</dc:creator>
  <cp:lastModifiedBy>Md Salman Farsi</cp:lastModifiedBy>
  <cp:revision>4</cp:revision>
  <dcterms:created xsi:type="dcterms:W3CDTF">2006-08-16T00:00:00Z</dcterms:created>
  <dcterms:modified xsi:type="dcterms:W3CDTF">2026-01-20T18:28:34Z</dcterms:modified>
  <dc:identifier>DAG5zcXmnZM</dc:identifier>
</cp:coreProperties>
</file>